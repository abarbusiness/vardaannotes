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972800" cy="8229600" type="B4JIS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13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FFCC-5C5C-7F8C-5D61-3F92CDFF7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346836"/>
            <a:ext cx="82296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436BD-BB4B-6A3A-F5EC-811F3433C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22446"/>
            <a:ext cx="82296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27CCA-5D10-5B36-9F72-9780337D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7875A-0D33-99D1-4C97-6AF1F4CD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97DAD-95B3-2B07-20EB-7F403DF2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393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E329C-CC82-0237-A2A0-C048D139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5966F-8BD7-966F-82B5-F1AFBE241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ECA8-1228-D751-5020-6034B77E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44BFF-7FB9-E54F-541E-155B093A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1088C-069E-CF9F-6F9D-7F317E4B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319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A2BD5-95AD-9116-DFBB-735946EB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65" y="2051686"/>
            <a:ext cx="946404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FB358-BBB6-D709-F2D3-8DC23BD5F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8665" y="5507356"/>
            <a:ext cx="946404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EFB01-4A02-498A-FE52-96EB3FB37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5D704-E88C-2378-6D12-4D9F2382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FFC52-EB88-9DB7-24B2-6F115C9B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50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8D46-EC9D-3946-C6CE-F363E763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3C8FF-C73F-07EE-9D14-61169E3F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43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FACDA7-AE7F-F566-1185-536F190C0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4980" y="2190750"/>
            <a:ext cx="466344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B81A84-A708-2046-DACF-89FAE6ACE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390BD-AB70-F28B-9634-3B01032EA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2A5B1-7402-2B8F-9ADE-B7F809C4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737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8109-E3DB-FDEE-E669-4CF283366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09" y="438150"/>
            <a:ext cx="946404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594C5-9253-A7C1-53BB-24C22695C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5810" y="2017396"/>
            <a:ext cx="4642008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3CAB1-EF80-D45F-084E-D8E6A9ED6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5810" y="3006090"/>
            <a:ext cx="4642008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6FD2B6-37DD-4EB4-7C93-AD51B5D1F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4980" y="2017396"/>
            <a:ext cx="4664869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25404-D88A-AAC8-4EDC-CBD1D014B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4980" y="3006090"/>
            <a:ext cx="4664869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B085F9-CE64-4CB6-ACFA-8AF8629D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D5EDA6-F108-A868-11A7-B2F62B218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608234-CAD2-87D2-BE43-5F0AC36C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4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33D2-63D8-2FB9-514A-8AAE8468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A0A20-F18A-8629-227C-B3E14674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F3DCD-8ADE-200A-9D97-4FCFE34E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D00F8-230D-8CD8-8E4F-959B52D6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96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56FA8-E627-FFD0-CC23-D8B724AA0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C848A-356E-3B3C-3B57-AE23DA7B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66BE4-5AE5-A840-B912-7BA8CE0F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10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8677-10C5-C74E-7A1B-EC4C1229F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0" y="548640"/>
            <a:ext cx="3539013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63569-C9FB-8AAA-531B-8B817DB6E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4869" y="1184911"/>
            <a:ext cx="555498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C8F8D-4FAE-4D75-278F-392C10624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0" y="2468880"/>
            <a:ext cx="3539013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5388B-50C6-0AAB-2DDF-1820A33DB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979B3-C3A3-52C9-63C1-89C8509A1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FBEA2-804D-4492-5A8A-00536D68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163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FE28-2F92-4A01-B07A-8C4AFB86F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810" y="548640"/>
            <a:ext cx="3539013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39ABF4-30C1-5355-78F9-2FFC70678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64869" y="1184911"/>
            <a:ext cx="555498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6D121-7DB9-227D-8407-5912864600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5810" y="2468880"/>
            <a:ext cx="3539013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76AE7-1A8F-9CC6-8E4B-D1759FF4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FB0A7D-C92D-04D3-6825-64D7E1551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84469-6529-FD5A-05DC-5EDA6F96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52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9440-D301-CD07-D0B6-69452CE5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D61E2-58BE-7E83-F708-481CC56CD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AA1F-843B-0778-C80A-730C6B13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0A597-2392-8BC9-432D-527074B2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79935-5D3A-FD6F-C9A2-548FC4D8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30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9BF23-5879-79B8-512B-A589FD477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52410" y="438150"/>
            <a:ext cx="236601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DE4A6-C9E0-6026-BC89-408234400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4380" y="438150"/>
            <a:ext cx="696087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FA587-25C3-B58C-FE5B-CC14B1EBC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911FA-99C8-FC0A-1B88-CDDCD93A4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06229-DC39-AAAA-D92B-75E91419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154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6BD0D4-7718-32E9-9E2D-CE19707E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380" y="438150"/>
            <a:ext cx="946404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7E0E9-84FC-EECC-6430-06D46016A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4380" y="2190750"/>
            <a:ext cx="946404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4D501-231D-B657-5A58-E6BA84CD0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" y="7627621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89A1D-76A2-462C-9AB5-D0DDF9AD5D8E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F7E1F-8ECE-2CF0-0901-90E49ECD9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34740" y="7627621"/>
            <a:ext cx="37033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9D4CE-65E2-A237-0515-0259E1215C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49540" y="7627621"/>
            <a:ext cx="2468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04F43-A372-4D1C-91F9-9669035306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28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1D59F4-BF7E-F721-321D-A1EEA1D6F11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0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77356-53EB-29F2-C032-D4798CE61C46}"/>
              </a:ext>
            </a:extLst>
          </p:cNvPr>
          <p:cNvSpPr/>
          <p:nvPr/>
        </p:nvSpPr>
        <p:spPr>
          <a:xfrm>
            <a:off x="0" y="3175000"/>
            <a:ext cx="12192000" cy="1905000"/>
          </a:xfrm>
          <a:prstGeom prst="rect">
            <a:avLst/>
          </a:prstGeom>
          <a:solidFill>
            <a:srgbClr val="1520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E45D8-41C1-37B0-7D8E-4BA921265F0E}"/>
              </a:ext>
            </a:extLst>
          </p:cNvPr>
          <p:cNvSpPr txBox="1"/>
          <p:nvPr/>
        </p:nvSpPr>
        <p:spPr>
          <a:xfrm>
            <a:off x="0" y="22860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800">
                <a:solidFill>
                  <a:srgbClr val="FC7917"/>
                </a:solidFill>
                <a:latin typeface="Cinzel"/>
              </a:rPr>
              <a:t>VARDAAN LEARNING INSTITUTE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7FAD0B-C6E3-4D3B-507F-439033ACFA53}"/>
              </a:ext>
            </a:extLst>
          </p:cNvPr>
          <p:cNvSpPr txBox="1"/>
          <p:nvPr/>
        </p:nvSpPr>
        <p:spPr>
          <a:xfrm>
            <a:off x="0" y="3429000"/>
            <a:ext cx="1219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5400" b="1">
                <a:solidFill>
                  <a:srgbClr val="FFFFFF"/>
                </a:solidFill>
                <a:latin typeface="Montserrat" panose="020F0502020204030204" pitchFamily="2" charset="0"/>
              </a:rPr>
              <a:t>CHAPTER 10: ELECTROMAGNETISM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FD6961-75AE-E747-F68F-A8A44667EAD3}"/>
              </a:ext>
            </a:extLst>
          </p:cNvPr>
          <p:cNvSpPr txBox="1"/>
          <p:nvPr/>
        </p:nvSpPr>
        <p:spPr>
          <a:xfrm>
            <a:off x="0" y="4445000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2400">
                <a:solidFill>
                  <a:srgbClr val="AAAAAA"/>
                </a:solidFill>
                <a:latin typeface="Calibri" panose="020F0502020204030204" pitchFamily="34" charset="0"/>
              </a:rPr>
              <a:t>Comprehensive Master Lecture &amp; Colorful Visual Notes</a:t>
            </a:r>
          </a:p>
        </p:txBody>
      </p:sp>
    </p:spTree>
    <p:extLst>
      <p:ext uri="{BB962C8B-B14F-4D97-AF65-F5344CB8AC3E}">
        <p14:creationId xmlns:p14="http://schemas.microsoft.com/office/powerpoint/2010/main" val="156261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842D74-753C-266B-A352-4E62176788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1A04A3-4895-A91D-133C-E4D3F6D0393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87CB0-C43D-7C23-3BE8-DFA07EB04924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38BDF8"/>
                </a:solidFill>
                <a:latin typeface="Montserrat" panose="020F0502020204030204" pitchFamily="2" charset="0"/>
              </a:rPr>
              <a:t>1. Oersted's Historic Experiment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D25D83-8C0B-841D-59F5-F98C985FB546}"/>
              </a:ext>
            </a:extLst>
          </p:cNvPr>
          <p:cNvSpPr txBox="1"/>
          <p:nvPr/>
        </p:nvSpPr>
        <p:spPr>
          <a:xfrm>
            <a:off x="508000" y="1397000"/>
            <a:ext cx="6350000" cy="51706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Discovered by Hans Christian Oersted in 1820.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He observed that an electric current flowing in a straight conductor produces a magnetic field around it.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When a compass needle is placed near a current-carrying wire, it deflects.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SNOW Rule: If current flows from South to North in a wire held Over a magnetic needle, the North pole of the needle deflects towards West.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The deflection reverses if the current direction is reversed.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C9283F-0540-6C73-7545-6FC778CA6F00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CD1CA-A9D1-5A3D-1F73-4B9CD45F9A0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2058DF-85F6-E38C-1718-39C23523167C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92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4F79D5-9B49-998D-5C6A-DDF06EED9E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14ECD-FF4E-2714-6206-216390080E7F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F4A54-D369-DAA1-CA94-CF8A4DBFA4B2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38BDF8"/>
                </a:solidFill>
                <a:latin typeface="Montserrat" panose="00000500000000000000" pitchFamily="2" charset="0"/>
              </a:rPr>
              <a:t>2. Magnetic Field Lines &amp; Properties</a:t>
            </a:r>
            <a:endParaRPr lang="en-IN" sz="3600" b="1">
              <a:solidFill>
                <a:srgbClr val="38BDF8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84876-01D7-7D56-0EFF-0356CEB47544}"/>
              </a:ext>
            </a:extLst>
          </p:cNvPr>
          <p:cNvSpPr txBox="1"/>
          <p:nvPr/>
        </p:nvSpPr>
        <p:spPr>
          <a:xfrm>
            <a:off x="508000" y="1397000"/>
            <a:ext cx="6350000" cy="61863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A magnetic field is the space around a magnet where its influence can be felt.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Property 1: Field lines are continuous closed loops (exit North, enter South).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Property 2: The tangent to a field line gives the direction of the magnetic field.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Property 3: Two magnetic field lines NEVER intersect (it would mean two directions at one point).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Property 4: Crowded lines indicate a strong magnetic field.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Neutral Points: Points where the magnetic field of the wire exactly cancels the horizontal component of Earth's magnetic field.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E97700-DB3F-BB29-0AFE-B81BCF27DB37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B5D4BE-9670-533E-967A-2DFE504DAA6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FD08CA-A6D1-F42E-C255-C710BC7D65C1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226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CF735B-76B5-CC17-1CF5-A64240D33F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FB60F-2E5F-FB26-013A-CE6D5F804F8B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32085-BD24-0BF5-BBF2-CECE72F0F9D8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38BDF8"/>
                </a:solidFill>
                <a:latin typeface="Montserrat" panose="00000500000000000000" pitchFamily="2" charset="0"/>
              </a:rPr>
              <a:t>3. Straight Conductor &amp; Thumb Rule</a:t>
            </a:r>
            <a:endParaRPr lang="en-IN" sz="3600" b="1">
              <a:solidFill>
                <a:srgbClr val="38BDF8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41DCC3-9728-B124-18FF-6F0E6877E99F}"/>
              </a:ext>
            </a:extLst>
          </p:cNvPr>
          <p:cNvSpPr txBox="1"/>
          <p:nvPr/>
        </p:nvSpPr>
        <p:spPr>
          <a:xfrm>
            <a:off x="508000" y="1397000"/>
            <a:ext cx="6350000" cy="51706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The magnetic field around a straight current-carrying wire consists of concentric circular loops.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Strength of field (B) is directly proportional to the current (I).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Strength of field (B) is inversely proportional to the distance (r) from the wire.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Right-Hand Thumb Rule: Hold the wire in your right hand with the thumb pointing in the direction of current.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Your curled fingers will point in the direction of the magnetic field lines.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A5D0E7-1CF9-26DD-1CDE-6DD3D0B57F4A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5CE459-819B-230D-64A7-D1B3FC2130D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EBA13E-1A07-E63C-72F3-9E2CFAFA126B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171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407028-DC9A-1596-57CF-EE769A65589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41B03D-6D7A-0A8B-D779-8C49004F126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35AD20-27A9-FE94-74C7-6F06184688AE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38BDF8"/>
                </a:solidFill>
                <a:latin typeface="Montserrat" panose="00000500000000000000" pitchFamily="2" charset="0"/>
              </a:rPr>
              <a:t>4. Circular Loop &amp; Solenoid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1E07D-2C30-8B10-B2E1-1F904477A104}"/>
              </a:ext>
            </a:extLst>
          </p:cNvPr>
          <p:cNvSpPr txBox="1"/>
          <p:nvPr/>
        </p:nvSpPr>
        <p:spPr>
          <a:xfrm>
            <a:off x="508000" y="1397000"/>
            <a:ext cx="6350000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Circular Loop: Current in a loop creates a magnetic field straight at the center.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Clock Face Rule: Clockwise current acts as a South (S) pole; Anticlockwise current acts as a North (N) pole.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Solenoid: A long cylindrical coil of insulated copper wire.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It behaves exactly like a bar magnet. The field inside is uniform, straight, and parallel.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To increase solenoid strength: Increase current (I), increase number of turns per unit length (n), or insert a soft iron core.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84C3B4-662E-DDEB-5DA1-E83849C36CD9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E8BC6C-9881-7AE2-2F98-2F9E021DF7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B92737-EDFB-85DF-2ECB-C512007454B5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5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F37EFC-8A71-1BF5-B85A-A533E70F2D7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08065E-6E80-0BEF-D14A-328ADCB9D82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0B6704-D14D-3A59-BF07-BE5D9ACF49AB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600" b="1">
                <a:solidFill>
                  <a:srgbClr val="38BDF8"/>
                </a:solidFill>
                <a:latin typeface="Montserrat" panose="00000500000000000000" pitchFamily="2" charset="0"/>
              </a:rPr>
              <a:t>5. Electromagnets &amp; The Electric Bell</a:t>
            </a:r>
            <a:endParaRPr lang="en-IN" sz="3600" b="1">
              <a:solidFill>
                <a:srgbClr val="38BDF8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6E411-6817-BC9F-C2F6-81FB312CD2C0}"/>
              </a:ext>
            </a:extLst>
          </p:cNvPr>
          <p:cNvSpPr txBox="1"/>
          <p:nvPr/>
        </p:nvSpPr>
        <p:spPr>
          <a:xfrm>
            <a:off x="508000" y="1397000"/>
            <a:ext cx="6350000" cy="517064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Electromagnet: A temporary magnet made by winding wire on a soft iron core.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Soft Iron vs Steel: Soft iron loses magnetism instantly (low retentivity) and is used for electromagnets.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The U-shaped horseshoe core is used because it brings the North and South poles closer, making the magnetic field incredibly strong.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Electric Bell: Uses an electromagnet to attract a soft iron armature. This breaks the circuit in a continuous 'make-and-break' cycle, causing the hammer to strike the gong repeatedly.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BCF992-0273-CEE9-5F5B-9A0BFC0D6D2A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26644B-0524-A9D0-7F06-2020EEE0B9E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CB4C31-10E1-B9DB-7B6C-AFE8963E230B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74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292750-CD4D-22A3-A01A-9E8843602E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4B257-AB23-08FD-249E-C89F6765EC33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98B70-AB5B-95FB-03C2-C663EE9C684F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38BDF8"/>
                </a:solidFill>
                <a:latin typeface="Montserrat" panose="00000500000000000000" pitchFamily="2" charset="0"/>
              </a:rPr>
              <a:t>6. Lorentz Force &amp; DC Motor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64C24-81F4-3F86-870C-2D1D45246EF3}"/>
              </a:ext>
            </a:extLst>
          </p:cNvPr>
          <p:cNvSpPr txBox="1"/>
          <p:nvPr/>
        </p:nvSpPr>
        <p:spPr>
          <a:xfrm>
            <a:off x="508000" y="1397000"/>
            <a:ext cx="6350000" cy="55092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200">
                <a:solidFill>
                  <a:srgbClr val="FFFFFF"/>
                </a:solidFill>
                <a:latin typeface="Calibri" panose="020F0502020204030204" pitchFamily="34" charset="0"/>
              </a:rPr>
              <a:t>â€¢ Lorentz Force: A current-carrying conductor in a magnetic field experiences a force. F = I Ã— L Ã— B Ã— sin(Î¸).</a:t>
            </a:r>
          </a:p>
          <a:p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2200">
                <a:solidFill>
                  <a:srgbClr val="FFFFFF"/>
                </a:solidFill>
                <a:latin typeface="Calibri" panose="020F0502020204030204" pitchFamily="34" charset="0"/>
              </a:rPr>
              <a:t>â€¢ Fleming's Left-Hand Rule: Stretch thumb, forefinger, and middle finger at 90 degrees.</a:t>
            </a:r>
          </a:p>
          <a:p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2200">
                <a:solidFill>
                  <a:srgbClr val="FFFFFF"/>
                </a:solidFill>
                <a:latin typeface="Calibri" panose="020F0502020204030204" pitchFamily="34" charset="0"/>
              </a:rPr>
              <a:t>â€¢ Forefinger = Magnetic Field, Middle Finger = Current, Thumb = Force/Motion.</a:t>
            </a:r>
          </a:p>
          <a:p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2200">
                <a:solidFill>
                  <a:srgbClr val="FFFFFF"/>
                </a:solidFill>
                <a:latin typeface="Calibri" panose="020F0502020204030204" pitchFamily="34" charset="0"/>
              </a:rPr>
              <a:t>â€¢ DC Motor: Converts electrical energy into mechanical energy.</a:t>
            </a:r>
          </a:p>
          <a:p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IN" sz="2200">
                <a:solidFill>
                  <a:srgbClr val="FFFFFF"/>
                </a:solidFill>
                <a:latin typeface="Calibri" panose="020F0502020204030204" pitchFamily="34" charset="0"/>
              </a:rPr>
              <a:t>â€¢ Split-Ring Commutator: Reverses the current in the armature every half rotation, ensuring continuous rotation in the same direction.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70952F-025A-A99D-D3D6-CA74C0C90DA3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6ABC75-4268-1660-9E32-4F91F82379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836698-0F44-AA7C-D46B-0FE3D026BFBB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176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A8FA24-2776-3B4B-C789-7312CD5F93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97A58F-D291-2345-CE9F-059E6FC73084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6729D-5CA2-6DEE-DB65-F1F479834D96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38BDF8"/>
                </a:solidFill>
                <a:latin typeface="Montserrat" panose="00000500000000000000" pitchFamily="2" charset="0"/>
              </a:rPr>
              <a:t>7. Electromagnetic Induction (EMI)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50406-6711-DAC2-CCAC-53958B6821BE}"/>
              </a:ext>
            </a:extLst>
          </p:cNvPr>
          <p:cNvSpPr txBox="1"/>
          <p:nvPr/>
        </p:nvSpPr>
        <p:spPr>
          <a:xfrm>
            <a:off x="508000" y="1397000"/>
            <a:ext cx="6350000" cy="41549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EMI is the phenomenon where a changing magnetic flux induces an electromotive force (EMF) in a coil.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Faraday's Law: The induced EMF is directly proportional to the rate of change of magnetic flux.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Lenz's Law: The direction of the induced current is such that it opposes the cause producing it.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This is in accordance with the Law of Conservation of Energy.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5F2C5EC-5F28-E175-4454-B187B18F422E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77C593-0953-7BD4-BACE-896FC72BD97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5E8087-FE8D-BA41-05BF-EA574E130A8A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57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29E2E7-0D2D-0A77-6417-1AA783E112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2BB03-B938-841B-5329-54BA61B799F2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FD39F-572E-5395-2BEF-E14C9D5F9A9E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38BDF8"/>
                </a:solidFill>
                <a:latin typeface="Montserrat" panose="00000500000000000000" pitchFamily="2" charset="0"/>
              </a:rPr>
              <a:t>8. AC Generator &amp; Alternator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24375-5496-DA98-39C7-67A02891740E}"/>
              </a:ext>
            </a:extLst>
          </p:cNvPr>
          <p:cNvSpPr txBox="1"/>
          <p:nvPr/>
        </p:nvSpPr>
        <p:spPr>
          <a:xfrm>
            <a:off x="508000" y="1397000"/>
            <a:ext cx="6350000" cy="48320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AC Generator: Converts mechanical energy into electrical energy using EMI.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Unlike a DC motor, it uses continuous Slip Rings (R1 and R2).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It outputs an Alternating Current that reverses direction periodically.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In India, the household AC supply is 220V at 50 Hz.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50 Hz means the current changes direction 100 times every second.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85050F-D90A-2D99-740D-93F3403B0279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E834CC-3B32-B5C2-4139-68393907A36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91DCB2-B518-1DC2-1F61-2A37B7425D05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802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FD5D5D-0F4F-036B-26D2-42C97240D66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8A9BBD-355D-8977-D52E-614B02BA8E7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FC791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F68D6-6E31-F54A-C1F8-DD7D8D83EDF7}"/>
              </a:ext>
            </a:extLst>
          </p:cNvPr>
          <p:cNvSpPr txBox="1"/>
          <p:nvPr/>
        </p:nvSpPr>
        <p:spPr>
          <a:xfrm>
            <a:off x="508000" y="381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600" b="1">
                <a:solidFill>
                  <a:srgbClr val="38BDF8"/>
                </a:solidFill>
                <a:latin typeface="Montserrat" panose="00000500000000000000" pitchFamily="2" charset="0"/>
              </a:rPr>
              <a:t>9. Transformers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6B58F-9BB6-C7D0-3FFE-32D3CC58E238}"/>
              </a:ext>
            </a:extLst>
          </p:cNvPr>
          <p:cNvSpPr txBox="1"/>
          <p:nvPr/>
        </p:nvSpPr>
        <p:spPr>
          <a:xfrm>
            <a:off x="508000" y="1397000"/>
            <a:ext cx="6350000" cy="449353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Principle: Based on Mutual Induction between primary and secondary coils.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Step-Up Transformer: Increases voltage (Vs &gt; Vp). It has more secondary turns (Ns &gt; Np) and uses thick primary wire.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Step-Down Transformer: Decreases voltage (Vs &lt; Vp). It has fewer secondary turns (Ns &lt; Np) and uses thick secondary wire.</a:t>
            </a:r>
          </a:p>
          <a:p>
            <a:endParaRPr lang="en-US" sz="2200">
              <a:solidFill>
                <a:srgbClr val="FFFFFF"/>
              </a:solidFill>
              <a:latin typeface="Calibri" panose="020F0502020204030204" pitchFamily="34" charset="0"/>
            </a:endParaRPr>
          </a:p>
          <a:p>
            <a:r>
              <a:rPr lang="en-US" sz="2200">
                <a:solidFill>
                  <a:srgbClr val="FFFFFF"/>
                </a:solidFill>
                <a:latin typeface="Calibri" panose="020F0502020204030204" pitchFamily="34" charset="0"/>
              </a:rPr>
              <a:t>â€¢ The core is laminated to prevent energy loss due to eddy currents.</a:t>
            </a:r>
            <a:endParaRPr lang="en-IN" sz="22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49C7B0-0532-1BD0-CB59-D1A6163F8304}"/>
              </a:ext>
            </a:extLst>
          </p:cNvPr>
          <p:cNvSpPr/>
          <p:nvPr/>
        </p:nvSpPr>
        <p:spPr>
          <a:xfrm>
            <a:off x="6985000" y="1397000"/>
            <a:ext cx="4699000" cy="3429000"/>
          </a:xfrm>
          <a:prstGeom prst="roundRect">
            <a:avLst/>
          </a:prstGeom>
          <a:solidFill>
            <a:srgbClr val="2030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647E39-C878-AE0D-4C88-857DCEC355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0" y="1524000"/>
            <a:ext cx="4445000" cy="3175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BF6051-0E05-11B4-3A97-6A71FF813E87}"/>
              </a:ext>
            </a:extLst>
          </p:cNvPr>
          <p:cNvSpPr txBox="1"/>
          <p:nvPr/>
        </p:nvSpPr>
        <p:spPr>
          <a:xfrm>
            <a:off x="508000" y="6350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888888"/>
                </a:solidFill>
                <a:latin typeface="Calibri" panose="020F0502020204030204" pitchFamily="34" charset="0"/>
              </a:rPr>
              <a:t>Powered by Vardaan Comet â€¢ Vardaan Learning Institute</a:t>
            </a:r>
            <a:endParaRPr lang="en-IN" sz="1400">
              <a:solidFill>
                <a:srgbClr val="88888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68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</Words>
  <Application>Microsoft Office PowerPoint</Application>
  <PresentationFormat>Custom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Cinzel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Raj Sharma</dc:creator>
  <cp:lastModifiedBy>Ankit Raj Sharma</cp:lastModifiedBy>
  <cp:revision>1</cp:revision>
  <dcterms:created xsi:type="dcterms:W3CDTF">2026-08-17T22:37:56Z</dcterms:created>
  <dcterms:modified xsi:type="dcterms:W3CDTF">2026-08-17T22:37:56Z</dcterms:modified>
</cp:coreProperties>
</file>